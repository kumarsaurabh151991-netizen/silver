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132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7B67D"/>
                </a:solidFill>
                <a:latin typeface="Aptos"/>
              </a:rPr>
              <a:t>CMS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CMS-APPLICATION-PY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700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BED1D6"/>
                </a:solidFill>
                <a:latin typeface="Aptos"/>
              </a:rPr>
              <a:t>Complaint Management System with an agentic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B67D"/>
                </a:solidFill>
                <a:latin typeface="Aptos"/>
              </a:rPr>
              <a:t>Streamlit  •  FastAPI SSE  •  SQLAlchemy  •  SQLite  •  LangChain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02A37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B"/>
                </a:solidFill>
                <a:latin typeface="Aptos"/>
              </a:rPr>
              <a:t>Complaint workflows often split data, communication, and action across disconnected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3108960"/>
          </a:xfrm>
          <a:prstGeom prst="roundRect">
            <a:avLst/>
          </a:prstGeom>
          <a:solidFill>
            <a:srgbClr val="EFF6F5"/>
          </a:solidFill>
          <a:ln>
            <a:solidFill>
              <a:srgbClr val="D5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82296" cy="3108960"/>
          </a:xfrm>
          <a:prstGeom prst="rect">
            <a:avLst/>
          </a:prstGeom>
          <a:solidFill>
            <a:srgbClr val="F2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A37"/>
                </a:solidFill>
                <a:latin typeface="Aptos"/>
              </a:rPr>
              <a:t>Slow handoffs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292607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B"/>
                </a:solidFill>
                <a:latin typeface="Aptos"/>
              </a:rPr>
              <a:t>Customers submit issues, employees lose context, and admins manually coordinate assignments.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337560" cy="3108960"/>
          </a:xfrm>
          <a:prstGeom prst="roundRect">
            <a:avLst/>
          </a:prstGeom>
          <a:solidFill>
            <a:srgbClr val="EFF6F5"/>
          </a:solidFill>
          <a:ln>
            <a:solidFill>
              <a:srgbClr val="D5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82296" cy="3108960"/>
          </a:xfrm>
          <a:prstGeom prst="rect">
            <a:avLst/>
          </a:prstGeom>
          <a:solidFill>
            <a:srgbClr val="17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47088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A37"/>
                </a:solidFill>
                <a:latin typeface="Aptos"/>
              </a:rPr>
              <a:t>Poor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292607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B"/>
                </a:solidFill>
                <a:latin typeface="Aptos"/>
              </a:rPr>
              <a:t>Status, ownership, and resolution progress are difficult to compare in one 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337560" cy="3108960"/>
          </a:xfrm>
          <a:prstGeom prst="roundRect">
            <a:avLst/>
          </a:prstGeom>
          <a:solidFill>
            <a:srgbClr val="EFF6F5"/>
          </a:solidFill>
          <a:ln>
            <a:solidFill>
              <a:srgbClr val="D5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82296" cy="3108960"/>
          </a:xfrm>
          <a:prstGeom prst="rect">
            <a:avLst/>
          </a:prstGeom>
          <a:solidFill>
            <a:srgbClr val="67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847088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A37"/>
                </a:solidFill>
                <a:latin typeface="Aptos"/>
              </a:rPr>
              <a:t>Limited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86000"/>
            <a:ext cx="292607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B"/>
                </a:solidFill>
                <a:latin typeface="Aptos"/>
              </a:rPr>
              <a:t>A chatbot that only answers questions does not complete real CMS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CAD0"/>
                </a:solidFill>
                <a:latin typeface="Aptos"/>
              </a:rPr>
              <a:t>One role-aware workspace where users can ask, act, and verify results.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566160"/>
          </a:xfrm>
          <a:prstGeom prst="roundRect">
            <a:avLst/>
          </a:prstGeom>
          <a:solidFill>
            <a:srgbClr val="1F2A3A"/>
          </a:solidFill>
          <a:ln>
            <a:solidFill>
              <a:srgbClr val="465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82296" cy="3566160"/>
          </a:xfrm>
          <a:prstGeom prst="rect">
            <a:avLst/>
          </a:prstGeom>
          <a:solidFill>
            <a:srgbClr val="17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3E7"/>
                </a:solidFill>
                <a:latin typeface="Aptos"/>
              </a:rPr>
              <a:t>Create complaints with title, description, priority, owner, and timestamps.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383280" cy="3566160"/>
          </a:xfrm>
          <a:prstGeom prst="roundRect">
            <a:avLst/>
          </a:prstGeom>
          <a:solidFill>
            <a:srgbClr val="1F2A3A"/>
          </a:solidFill>
          <a:ln>
            <a:solidFill>
              <a:srgbClr val="465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645920"/>
            <a:ext cx="82296" cy="3566160"/>
          </a:xfrm>
          <a:prstGeom prst="rect">
            <a:avLst/>
          </a:prstGeom>
          <a:solidFill>
            <a:srgbClr val="67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4708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Coordinate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86000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3E7"/>
                </a:solidFill>
                <a:latin typeface="Aptos"/>
              </a:rPr>
              <a:t>Assign tasks, update status, add employee notes, and manage users.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383280" cy="3566160"/>
          </a:xfrm>
          <a:prstGeom prst="roundRect">
            <a:avLst/>
          </a:prstGeom>
          <a:solidFill>
            <a:srgbClr val="1F2A3A"/>
          </a:solidFill>
          <a:ln>
            <a:solidFill>
              <a:srgbClr val="465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645920"/>
            <a:ext cx="82296" cy="3566160"/>
          </a:xfrm>
          <a:prstGeom prst="rect">
            <a:avLst/>
          </a:prstGeom>
          <a:solidFill>
            <a:srgbClr val="F2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84708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Act with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286000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3E7"/>
                </a:solidFill>
                <a:latin typeface="Aptos"/>
              </a:rPr>
              <a:t>The assistant understands intent, calls tools, changes data, and navigates the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02A37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B"/>
                </a:solidFill>
                <a:latin typeface="Aptos"/>
              </a:rPr>
              <a:t>A small, local-first stack with a clear separation between UI, actions, and 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1600200"/>
          </a:xfrm>
          <a:prstGeom prst="roundRect">
            <a:avLst/>
          </a:prstGeom>
          <a:solidFill>
            <a:srgbClr val="EFF6F5"/>
          </a:solidFill>
          <a:ln>
            <a:solidFill>
              <a:srgbClr val="D5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82296" cy="1600200"/>
          </a:xfrm>
          <a:prstGeom prst="rect">
            <a:avLst/>
          </a:prstGeom>
          <a:solidFill>
            <a:srgbClr val="17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29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A37"/>
                </a:solidFill>
                <a:latin typeface="Aptos"/>
              </a:rPr>
              <a:t>Streamlit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B"/>
                </a:solidFill>
                <a:latin typeface="Aptos"/>
              </a:rPr>
              <a:t>Role pages, reports, sidebar assistant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28800"/>
            <a:ext cx="2834640" cy="1600200"/>
          </a:xfrm>
          <a:prstGeom prst="roundRect">
            <a:avLst/>
          </a:prstGeom>
          <a:solidFill>
            <a:srgbClr val="EFF6F5"/>
          </a:solidFill>
          <a:ln>
            <a:solidFill>
              <a:srgbClr val="D5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828800"/>
            <a:ext cx="82296" cy="1600200"/>
          </a:xfrm>
          <a:prstGeom prst="rect">
            <a:avLst/>
          </a:prstGeom>
          <a:solidFill>
            <a:srgbClr val="F2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029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A37"/>
                </a:solidFill>
                <a:latin typeface="Aptos"/>
              </a:rPr>
              <a:t>Agent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688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B"/>
                </a:solidFill>
                <a:latin typeface="Aptos"/>
              </a:rPr>
              <a:t>LangChain tools + local command fallback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828800"/>
            <a:ext cx="2834640" cy="1600200"/>
          </a:xfrm>
          <a:prstGeom prst="roundRect">
            <a:avLst/>
          </a:prstGeom>
          <a:solidFill>
            <a:srgbClr val="EFF6F5"/>
          </a:solidFill>
          <a:ln>
            <a:solidFill>
              <a:srgbClr val="D5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1828800"/>
            <a:ext cx="82296" cy="1600200"/>
          </a:xfrm>
          <a:prstGeom prst="rect">
            <a:avLst/>
          </a:prstGeom>
          <a:solidFill>
            <a:srgbClr val="67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029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A37"/>
                </a:solidFill>
                <a:latin typeface="Aptos"/>
              </a:rPr>
              <a:t>FastAPI sidecar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46888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B"/>
                </a:solidFill>
                <a:latin typeface="Aptos"/>
              </a:rPr>
              <a:t>SSE streaming endpoint /chat/stream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4069080"/>
            <a:ext cx="2834640" cy="1600200"/>
          </a:xfrm>
          <a:prstGeom prst="roundRect">
            <a:avLst/>
          </a:prstGeom>
          <a:solidFill>
            <a:srgbClr val="EFF6F5"/>
          </a:solidFill>
          <a:ln>
            <a:solidFill>
              <a:srgbClr val="D5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4069080"/>
            <a:ext cx="82296" cy="1600200"/>
          </a:xfrm>
          <a:prstGeom prst="rect">
            <a:avLst/>
          </a:prstGeom>
          <a:solidFill>
            <a:srgbClr val="17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427024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A37"/>
                </a:solidFill>
                <a:latin typeface="Aptos"/>
              </a:rPr>
              <a:t>SQLite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7091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B"/>
                </a:solidFill>
                <a:latin typeface="Aptos"/>
              </a:rPr>
              <a:t>Users, complaints, assignments, FTS5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989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76B70"/>
                </a:solidFill>
                <a:latin typeface="Aptos"/>
              </a:rPr>
              <a:t>User prompt  →  intent  →  tool action  →  SQLite update  →  UI navigation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Role-based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CAD0"/>
                </a:solidFill>
                <a:latin typeface="Aptos"/>
              </a:rPr>
              <a:t>Each role sees the actions it owns, while the agent enforces the same permissions.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3749039"/>
          </a:xfrm>
          <a:prstGeom prst="roundRect">
            <a:avLst/>
          </a:prstGeom>
          <a:solidFill>
            <a:srgbClr val="1F2A3A"/>
          </a:solidFill>
          <a:ln>
            <a:solidFill>
              <a:srgbClr val="465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82296" cy="3749039"/>
          </a:xfrm>
          <a:prstGeom prst="rect">
            <a:avLst/>
          </a:prstGeom>
          <a:solidFill>
            <a:srgbClr val="17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013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971800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3E7"/>
                </a:solidFill>
                <a:latin typeface="Aptos"/>
              </a:rPr>
              <a:t>Create complaints
View own complaints
Track status
Ask for guidance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383280" cy="3749039"/>
          </a:xfrm>
          <a:prstGeom prst="roundRect">
            <a:avLst/>
          </a:prstGeom>
          <a:solidFill>
            <a:srgbClr val="1F2A3A"/>
          </a:solidFill>
          <a:ln>
            <a:solidFill>
              <a:srgbClr val="465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600200"/>
            <a:ext cx="82296" cy="3749039"/>
          </a:xfrm>
          <a:prstGeom prst="rect">
            <a:avLst/>
          </a:prstGeom>
          <a:solidFill>
            <a:srgbClr val="67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013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EMPLOYEE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40280"/>
            <a:ext cx="2971800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3E7"/>
                </a:solidFill>
                <a:latin typeface="Aptos"/>
              </a:rPr>
              <a:t>View assigned tasks
Update assigned status
Add internal notes
Create complaints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383280" cy="3749039"/>
          </a:xfrm>
          <a:prstGeom prst="roundRect">
            <a:avLst/>
          </a:prstGeom>
          <a:solidFill>
            <a:srgbClr val="1F2A3A"/>
          </a:solidFill>
          <a:ln>
            <a:solidFill>
              <a:srgbClr val="465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600200"/>
            <a:ext cx="82296" cy="3749039"/>
          </a:xfrm>
          <a:prstGeom prst="rect">
            <a:avLst/>
          </a:prstGeom>
          <a:solidFill>
            <a:srgbClr val="F2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8013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240280"/>
            <a:ext cx="2971800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3E7"/>
                </a:solidFill>
                <a:latin typeface="Aptos"/>
              </a:rPr>
              <a:t>List users
Assign any complaint
Override status
Reports and navigation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02A37"/>
                </a:solidFill>
                <a:latin typeface="Aptos"/>
              </a:rPr>
              <a:t>Agentic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B"/>
                </a:solidFill>
                <a:latin typeface="Aptos"/>
              </a:rPr>
              <a:t>The assistant is an action controller, not only a question-answer bot.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A37"/>
                </a:solidFill>
                <a:latin typeface="Aptos"/>
              </a:rPr>
              <a:t>• “Create a complaint about a broken streetlight” creates a SQLite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4767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A37"/>
                </a:solidFill>
                <a:latin typeface="Aptos"/>
              </a:rPr>
              <a:t>• “Assign task id 13 to employee 3 and set it in progress” assigns and updates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8658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A37"/>
                </a:solidFill>
                <a:latin typeface="Aptos"/>
              </a:rPr>
              <a:t>• “Mark my assigned task 13 as resolved” checks employee ownership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2549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A37"/>
                </a:solidFill>
                <a:latin typeface="Aptos"/>
              </a:rPr>
              <a:t>• “Show me users list” returns users and opens Admin → Users.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644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A37"/>
                </a:solidFill>
                <a:latin typeface="Aptos"/>
              </a:rPr>
              <a:t>• “Show reports for employee 3 that are in progress” filters the report 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617720"/>
            <a:ext cx="10241280" cy="914400"/>
          </a:xfrm>
          <a:prstGeom prst="roundRect">
            <a:avLst/>
          </a:prstGeom>
          <a:solidFill>
            <a:srgbClr val="EFF6F5"/>
          </a:solidFill>
          <a:ln>
            <a:solidFill>
              <a:srgbClr val="D5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617720"/>
            <a:ext cx="82296" cy="914400"/>
          </a:xfrm>
          <a:prstGeom prst="rect">
            <a:avLst/>
          </a:prstGeom>
          <a:solidFill>
            <a:srgbClr val="F2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818888"/>
            <a:ext cx="9829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A37"/>
                </a:solidFill>
                <a:latin typeface="Aptos"/>
              </a:rPr>
              <a:t>Guardrail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257800"/>
            <a:ext cx="9829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B"/>
                </a:solidFill>
                <a:latin typeface="Aptos"/>
              </a:rPr>
              <a:t>Every action validates the signed-in role and assignment before changing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02A37"/>
                </a:solidFill>
                <a:latin typeface="Aptos"/>
              </a:rPr>
              <a:t>SQLite knowledge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B"/>
                </a:solidFill>
                <a:latin typeface="Aptos"/>
              </a:rPr>
              <a:t>The knowledge layer stays inside the same local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3246120" cy="3474720"/>
          </a:xfrm>
          <a:prstGeom prst="roundRect">
            <a:avLst/>
          </a:prstGeom>
          <a:solidFill>
            <a:srgbClr val="EFF6F5"/>
          </a:solidFill>
          <a:ln>
            <a:solidFill>
              <a:srgbClr val="D5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82296" cy="3474720"/>
          </a:xfrm>
          <a:prstGeom prst="rect">
            <a:avLst/>
          </a:prstGeom>
          <a:solidFill>
            <a:srgbClr val="17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A37"/>
                </a:solidFill>
                <a:latin typeface="Aptos"/>
              </a:rPr>
              <a:t>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834639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B"/>
                </a:solidFill>
                <a:latin typeface="Aptos"/>
              </a:rPr>
              <a:t>CMS user guide
Complaint titles and descriptions
Current status and priority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246120" cy="3474720"/>
          </a:xfrm>
          <a:prstGeom prst="roundRect">
            <a:avLst/>
          </a:prstGeom>
          <a:solidFill>
            <a:srgbClr val="EFF6F5"/>
          </a:solidFill>
          <a:ln>
            <a:solidFill>
              <a:srgbClr val="D5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645920"/>
            <a:ext cx="82296" cy="3474720"/>
          </a:xfrm>
          <a:prstGeom prst="rect">
            <a:avLst/>
          </a:prstGeom>
          <a:solidFill>
            <a:srgbClr val="67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847088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A37"/>
                </a:solidFill>
                <a:latin typeface="Aptos"/>
              </a:rPr>
              <a:t>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286000"/>
            <a:ext cx="2834639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B"/>
                </a:solidFill>
                <a:latin typeface="Aptos"/>
              </a:rPr>
              <a:t>SQLite FTS5 table
 cms_knowledge_fts
No separate vector service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645920"/>
            <a:ext cx="3246120" cy="3474720"/>
          </a:xfrm>
          <a:prstGeom prst="roundRect">
            <a:avLst/>
          </a:prstGeom>
          <a:solidFill>
            <a:srgbClr val="EFF6F5"/>
          </a:solidFill>
          <a:ln>
            <a:solidFill>
              <a:srgbClr val="D5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645920"/>
            <a:ext cx="82296" cy="3474720"/>
          </a:xfrm>
          <a:prstGeom prst="rect">
            <a:avLst/>
          </a:prstGeom>
          <a:solidFill>
            <a:srgbClr val="F2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47088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A37"/>
                </a:solidFill>
                <a:latin typeface="Aptos"/>
              </a:rPr>
              <a:t>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2834639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B"/>
                </a:solidFill>
                <a:latin typeface="Aptos"/>
              </a:rPr>
              <a:t>Search terms are matched against guide and complaint documents, then passed to the agent as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Interface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CAD0"/>
                </a:solidFill>
                <a:latin typeface="Aptos"/>
              </a:rPr>
              <a:t>Designed around the operational screens shown in the CMS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3794760"/>
          </a:xfrm>
          <a:prstGeom prst="roundRect">
            <a:avLst/>
          </a:prstGeom>
          <a:solidFill>
            <a:srgbClr val="1F2A3A"/>
          </a:solidFill>
          <a:ln>
            <a:solidFill>
              <a:srgbClr val="465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82296" cy="3794760"/>
          </a:xfrm>
          <a:prstGeom prst="rect">
            <a:avLst/>
          </a:prstGeom>
          <a:solidFill>
            <a:srgbClr val="17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5564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Persistent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71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3E7"/>
                </a:solidFill>
                <a:latin typeface="Aptos"/>
              </a:rPr>
              <a:t>Sidebar chat stays available while users work. Responses stream and successful actions navigate the main 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83280" cy="3794760"/>
          </a:xfrm>
          <a:prstGeom prst="roundRect">
            <a:avLst/>
          </a:prstGeom>
          <a:solidFill>
            <a:srgbClr val="1F2A3A"/>
          </a:solidFill>
          <a:ln>
            <a:solidFill>
              <a:srgbClr val="465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554480"/>
            <a:ext cx="82296" cy="3794760"/>
          </a:xfrm>
          <a:prstGeom prst="rect">
            <a:avLst/>
          </a:prstGeom>
          <a:solidFill>
            <a:srgbClr val="F2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5564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Admin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94560"/>
            <a:ext cx="2971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3E7"/>
                </a:solidFill>
                <a:latin typeface="Aptos"/>
              </a:rPr>
              <a:t>Complaints, Assign, and Users sections with status filters, assignment controls, and manual fallback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383280" cy="3794760"/>
          </a:xfrm>
          <a:prstGeom prst="roundRect">
            <a:avLst/>
          </a:prstGeom>
          <a:solidFill>
            <a:srgbClr val="1F2A3A"/>
          </a:solidFill>
          <a:ln>
            <a:solidFill>
              <a:srgbClr val="465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82296" cy="3794760"/>
          </a:xfrm>
          <a:prstGeom prst="rect">
            <a:avLst/>
          </a:prstGeom>
          <a:solidFill>
            <a:srgbClr val="67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75564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94560"/>
            <a:ext cx="2971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3E7"/>
                </a:solidFill>
                <a:latin typeface="Aptos"/>
              </a:rPr>
              <a:t>Overview, By user, Date range, Raw data, charts, filters, and CSV download.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02A37"/>
                </a:solidFill>
                <a:latin typeface="Aptos"/>
              </a:rPr>
              <a:t>Run it locally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B"/>
                </a:solidFill>
                <a:latin typeface="Aptos"/>
              </a:rPr>
              <a:t>The project is designed for a simple Windows quick 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6B70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276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02A37"/>
                </a:solidFill>
                <a:latin typeface="Aptos"/>
              </a:rPr>
              <a:t>Create and activate the virtual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116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D6C7B"/>
                </a:solidFill>
                <a:latin typeface="Aptos"/>
              </a:rPr>
              <a:t>python -m venv .venv    •    .venv\Scripts\activate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6B70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8163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02A37"/>
                </a:solidFill>
                <a:latin typeface="Aptos"/>
              </a:rPr>
              <a:t>Install and 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200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D6C7B"/>
                </a:solidFill>
                <a:latin typeface="Aptos"/>
              </a:rPr>
              <a:t>pip install -r requirements.txt    •    copy .env.example .env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6B70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00507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02A37"/>
                </a:solidFill>
                <a:latin typeface="Aptos"/>
              </a:rPr>
              <a:t>Launch both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389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D6C7B"/>
                </a:solidFill>
                <a:latin typeface="Aptos"/>
              </a:rPr>
              <a:t>run.bat    →    Streamlit :8501    +    FastAPI :8001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257800"/>
            <a:ext cx="10149840" cy="685800"/>
          </a:xfrm>
          <a:prstGeom prst="roundRect">
            <a:avLst/>
          </a:prstGeom>
          <a:solidFill>
            <a:srgbClr val="EFF6F5"/>
          </a:solidFill>
          <a:ln>
            <a:solidFill>
              <a:srgbClr val="D5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5257800"/>
            <a:ext cx="82296" cy="685800"/>
          </a:xfrm>
          <a:prstGeom prst="rect">
            <a:avLst/>
          </a:prstGeom>
          <a:solidFill>
            <a:srgbClr val="17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458968"/>
            <a:ext cx="9738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A37"/>
                </a:solidFill>
                <a:latin typeface="Aptos"/>
              </a:rPr>
              <a:t>Demo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897880"/>
            <a:ext cx="973836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B"/>
                </a:solidFill>
                <a:latin typeface="Aptos"/>
              </a:rPr>
              <a:t>admin/admin123  •  customer/customer123  •  employee/employee123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